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0499" y="857250"/>
            <a:ext cx="7238999" cy="36545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233504"/>
            <a:ext cx="1236344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spc="360" kern="0" dirty="0">
                <a:solidFill>
                  <a:srgbClr val="C66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EXECUTIVE LEADERSHIP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2854343"/>
            <a:ext cx="11576684" cy="242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b="1" spc="-336" kern="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decisions. </a:t>
            </a:r>
            <a:pPr algn="l" indent="0" marL="0">
              <a:lnSpc>
                <a:spcPct val="98000"/>
              </a:lnSpc>
              <a:buNone/>
            </a:pPr>
            <a:r>
              <a:rPr lang="en-US" sz="9600" b="1" spc="-336" kern="0" dirty="0">
                <a:solidFill>
                  <a:srgbClr val="982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 in strategy.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1143000" y="5624891"/>
            <a:ext cx="5555616" cy="2466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56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CFO and executive leadership for growing businesses. We help owners build sustainable, transferable value — engaged at the scope you need.</a:t>
            </a:r>
            <a:endParaRPr lang="en-US" sz="2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9240332"/>
            <a:ext cx="552378" cy="2788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66756" y="9158341"/>
            <a:ext cx="3197522" cy="4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b="1" spc="-45" kern="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2250" b="1" spc="-45" kern="0" dirty="0">
                <a:solidFill>
                  <a:srgbClr val="9824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45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6453805" y="9276501"/>
            <a:ext cx="767394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14685"/>
            <a:ext cx="8298160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C6620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MODERN BUSINESS CHALLENGE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3167964"/>
            <a:ext cx="7770095" cy="2428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150" b="1" spc="-184" kern="0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Growth outpaces leadership capacity.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143000" y="5900719"/>
            <a:ext cx="5785183" cy="180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Owners are pulled between running the business and steering it. Bookkeeping tells you what happened; it can't tell you what to do next.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601127" y="3180502"/>
            <a:ext cx="7543872" cy="1130913"/>
          </a:xfrm>
          <a:prstGeom prst="roundRect">
            <a:avLst>
              <a:gd name="adj" fmla="val 101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1E1E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127" y="4305642"/>
            <a:ext cx="7543872" cy="9525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7" name="Shape 5"/>
          <p:cNvSpPr/>
          <p:nvPr/>
        </p:nvSpPr>
        <p:spPr>
          <a:xfrm>
            <a:off x="9601127" y="3180502"/>
            <a:ext cx="7543872" cy="34636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8" name="Shape 6"/>
          <p:cNvSpPr/>
          <p:nvPr/>
        </p:nvSpPr>
        <p:spPr>
          <a:xfrm>
            <a:off x="9601127" y="3180502"/>
            <a:ext cx="9525" cy="1130913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9" name="Shape 7"/>
          <p:cNvSpPr/>
          <p:nvPr/>
        </p:nvSpPr>
        <p:spPr>
          <a:xfrm>
            <a:off x="17139226" y="3180502"/>
            <a:ext cx="9525" cy="1130913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0" name="Text 8"/>
          <p:cNvSpPr/>
          <p:nvPr/>
        </p:nvSpPr>
        <p:spPr>
          <a:xfrm>
            <a:off x="9949746" y="3538952"/>
            <a:ext cx="7531298" cy="4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Margins squeezed, cash hard to predict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01127" y="4578043"/>
            <a:ext cx="7543872" cy="1130913"/>
          </a:xfrm>
          <a:prstGeom prst="roundRect">
            <a:avLst>
              <a:gd name="adj" fmla="val 101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1E1E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127" y="5703184"/>
            <a:ext cx="7543872" cy="9525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127" y="4578043"/>
            <a:ext cx="7543872" cy="34636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127" y="4578043"/>
            <a:ext cx="9525" cy="1130913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7139226" y="4578043"/>
            <a:ext cx="9525" cy="1130913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9949746" y="4936493"/>
            <a:ext cx="7531298" cy="4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Decisions made on gut, not data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601127" y="5975584"/>
            <a:ext cx="7543872" cy="1130913"/>
          </a:xfrm>
          <a:prstGeom prst="roundRect">
            <a:avLst>
              <a:gd name="adj" fmla="val 101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1E1E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127" y="7100725"/>
            <a:ext cx="7543872" cy="9525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127" y="5975584"/>
            <a:ext cx="7543872" cy="34636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127" y="5975584"/>
            <a:ext cx="9525" cy="1130913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21" name="Shape 19"/>
          <p:cNvSpPr/>
          <p:nvPr/>
        </p:nvSpPr>
        <p:spPr>
          <a:xfrm>
            <a:off x="17139226" y="5975584"/>
            <a:ext cx="9525" cy="1130913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22" name="Text 20"/>
          <p:cNvSpPr/>
          <p:nvPr/>
        </p:nvSpPr>
        <p:spPr>
          <a:xfrm>
            <a:off x="9949746" y="6334034"/>
            <a:ext cx="7531298" cy="48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 executive bandwidth for strategy</a:t>
            </a:r>
            <a:endParaRPr lang="en-US" sz="22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9357410"/>
            <a:ext cx="381000" cy="19230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57314" y="9305997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6429902" y="9276501"/>
            <a:ext cx="791297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 / 10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13003"/>
            <a:ext cx="8298160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C6620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IS A FRACTIONAL EXECUTIVE?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3566282"/>
            <a:ext cx="7770095" cy="163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150" b="1" spc="-184" kern="0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C-suite expertise, sized to you.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143000" y="5502401"/>
            <a:ext cx="5785183" cy="180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fractional executive delivers the strategy and discipline of a full-time leader — engaged part-time, for the work, without the six-figure salary.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601127" y="4522571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6" name="Text 4"/>
          <p:cNvSpPr/>
          <p:nvPr/>
        </p:nvSpPr>
        <p:spPr>
          <a:xfrm>
            <a:off x="10039223" y="4294007"/>
            <a:ext cx="5882977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Senior expertise, part-time commitment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01127" y="5158743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8" name="Text 6"/>
          <p:cNvSpPr/>
          <p:nvPr/>
        </p:nvSpPr>
        <p:spPr>
          <a:xfrm>
            <a:off x="10039223" y="4930179"/>
            <a:ext cx="4702175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Engaged for impact, not the title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127" y="5794916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10" name="Text 8"/>
          <p:cNvSpPr/>
          <p:nvPr/>
        </p:nvSpPr>
        <p:spPr>
          <a:xfrm>
            <a:off x="10039223" y="5566352"/>
            <a:ext cx="480903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Scales up and down as you grow</a:t>
            </a:r>
            <a:endParaRPr lang="en-US" sz="2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9357410"/>
            <a:ext cx="381000" cy="192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57314" y="9305997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23679" y="9276501"/>
            <a:ext cx="797520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 / 10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34441"/>
            <a:ext cx="8298160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C6620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"FRACTIONAL" IS THE NEW STANDARD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3787721"/>
            <a:ext cx="7770095" cy="163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150" b="1" spc="-184" kern="0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 smart way to scale leadership.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143000" y="5723839"/>
            <a:ext cx="5785183" cy="136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Smart owners no longer wait until they can afford a full-time CFO. Fractional leadership puts seasoned judgment in the room today.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601127" y="4522571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6" name="Text 4"/>
          <p:cNvSpPr/>
          <p:nvPr/>
        </p:nvSpPr>
        <p:spPr>
          <a:xfrm>
            <a:off x="10039223" y="4294007"/>
            <a:ext cx="4516636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Lower fixed cost, faster impact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01127" y="5158743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8" name="Text 6"/>
          <p:cNvSpPr/>
          <p:nvPr/>
        </p:nvSpPr>
        <p:spPr>
          <a:xfrm>
            <a:off x="10039223" y="4930179"/>
            <a:ext cx="6032599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Immediate access to seasoned judgment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127" y="5794916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10" name="Text 8"/>
          <p:cNvSpPr/>
          <p:nvPr/>
        </p:nvSpPr>
        <p:spPr>
          <a:xfrm>
            <a:off x="10039223" y="5566352"/>
            <a:ext cx="5516066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Flexibility through every growth stage</a:t>
            </a:r>
            <a:endParaRPr lang="en-US" sz="2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9357410"/>
            <a:ext cx="381000" cy="192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57314" y="9305997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20702" y="9276501"/>
            <a:ext cx="800497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 / 10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63499" y="7591406"/>
            <a:ext cx="5905499" cy="29813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141862"/>
            <a:ext cx="17602199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E88F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MAKE BOLD ADVANTAGE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43000" y="2695142"/>
            <a:ext cx="16482059" cy="1714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98" kern="0" dirty="0">
                <a:solidFill>
                  <a:srgbClr val="F8F6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Big-firm rigor. Owner-level care.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1143000" y="4695392"/>
            <a:ext cx="884797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2BFB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PwC-trained leadership and a 2023 Wichita Business Journal CFO of the Year — paired with hands-on partnership. You get results, not slide decks.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143000" y="6590830"/>
            <a:ext cx="3730029" cy="8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E88F3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30+</a:t>
            </a:r>
            <a:endParaRPr lang="en-US" sz="6300" dirty="0"/>
          </a:p>
        </p:txBody>
      </p:sp>
      <p:sp>
        <p:nvSpPr>
          <p:cNvPr id="7" name="Text 4"/>
          <p:cNvSpPr/>
          <p:nvPr/>
        </p:nvSpPr>
        <p:spPr>
          <a:xfrm>
            <a:off x="1143000" y="7505176"/>
            <a:ext cx="3492664" cy="67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2BFB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Years across PwC &amp; Fortune 500 divisions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67281" y="6590830"/>
            <a:ext cx="3730029" cy="8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E88F3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3-in-1</a:t>
            </a:r>
            <a:endParaRPr lang="en-US" sz="6300" dirty="0"/>
          </a:p>
        </p:txBody>
      </p:sp>
      <p:sp>
        <p:nvSpPr>
          <p:cNvPr id="9" name="Text 6"/>
          <p:cNvSpPr/>
          <p:nvPr/>
        </p:nvSpPr>
        <p:spPr>
          <a:xfrm>
            <a:off x="5067281" y="7505176"/>
            <a:ext cx="3492664" cy="67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2BFB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CFO, controller &amp; tax leadership under one roof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91563" y="6590830"/>
            <a:ext cx="3730029" cy="83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E88F3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2023</a:t>
            </a:r>
            <a:endParaRPr lang="en-US" sz="6300" dirty="0"/>
          </a:p>
        </p:txBody>
      </p:sp>
      <p:sp>
        <p:nvSpPr>
          <p:cNvPr id="11" name="Text 8"/>
          <p:cNvSpPr/>
          <p:nvPr/>
        </p:nvSpPr>
        <p:spPr>
          <a:xfrm>
            <a:off x="8991563" y="7505176"/>
            <a:ext cx="3492664" cy="677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2BFB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Wichita Business Journal CFO of the Year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9357410"/>
            <a:ext cx="381000" cy="192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57314" y="9305997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F8F6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E88F3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427918" y="9276501"/>
            <a:ext cx="793281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7673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05 / 10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34441"/>
            <a:ext cx="8298160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C6620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SOLVING REAL COMPLEXITY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3787721"/>
            <a:ext cx="7770095" cy="163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150" b="1" spc="-184" kern="0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From operations to the bottom line.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143000" y="5723839"/>
            <a:ext cx="5785183" cy="136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translate operations into financial clarity, so you know which products, customers, and decisions actually create value.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601127" y="4522571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6" name="Text 4"/>
          <p:cNvSpPr/>
          <p:nvPr/>
        </p:nvSpPr>
        <p:spPr>
          <a:xfrm>
            <a:off x="10039223" y="4294007"/>
            <a:ext cx="6421537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True product, job, and customer profitability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01127" y="5158743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8" name="Text 6"/>
          <p:cNvSpPr/>
          <p:nvPr/>
        </p:nvSpPr>
        <p:spPr>
          <a:xfrm>
            <a:off x="10039223" y="4930179"/>
            <a:ext cx="6276379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Inventory and working-capital optimization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127" y="5794916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10" name="Text 8"/>
          <p:cNvSpPr/>
          <p:nvPr/>
        </p:nvSpPr>
        <p:spPr>
          <a:xfrm>
            <a:off x="10039223" y="5566352"/>
            <a:ext cx="5197971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Capital planning for growth and exit</a:t>
            </a:r>
            <a:endParaRPr lang="en-US" sz="2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9357410"/>
            <a:ext cx="381000" cy="192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57314" y="9305997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24671" y="9276501"/>
            <a:ext cx="796528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06 / 10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384677"/>
            <a:ext cx="17602199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C6620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CORE SERVICE OFFERINGS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899893"/>
            <a:ext cx="17602199" cy="781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175" kern="0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Everything a CFO does — when you need it.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43000" y="4176117"/>
            <a:ext cx="7867685" cy="1729744"/>
          </a:xfrm>
          <a:prstGeom prst="roundRect">
            <a:avLst>
              <a:gd name="adj" fmla="val 7709"/>
            </a:avLst>
          </a:prstGeom>
          <a:solidFill>
            <a:srgbClr val="FFFFFF"/>
          </a:solidFill>
          <a:ln w="5773">
            <a:solidFill>
              <a:srgbClr val="DDD9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1E1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7837" y="4562890"/>
            <a:ext cx="7719814" cy="53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Fractional CFO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567837" y="5160006"/>
            <a:ext cx="7719814" cy="397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Cash flow, budgeting &amp; forecasting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77313" y="4176117"/>
            <a:ext cx="7867685" cy="1729744"/>
          </a:xfrm>
          <a:prstGeom prst="roundRect">
            <a:avLst>
              <a:gd name="adj" fmla="val 7709"/>
            </a:avLst>
          </a:prstGeom>
          <a:solidFill>
            <a:srgbClr val="FFFFFF"/>
          </a:solidFill>
          <a:ln w="5773">
            <a:solidFill>
              <a:srgbClr val="DDD9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1E1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02150" y="4562890"/>
            <a:ext cx="7719814" cy="53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Fractional Controller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702150" y="5160006"/>
            <a:ext cx="7719814" cy="397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Clean books, tight monthly close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6172488"/>
            <a:ext cx="7867685" cy="1729744"/>
          </a:xfrm>
          <a:prstGeom prst="roundRect">
            <a:avLst>
              <a:gd name="adj" fmla="val 7709"/>
            </a:avLst>
          </a:prstGeom>
          <a:solidFill>
            <a:srgbClr val="FFFFFF"/>
          </a:solidFill>
          <a:ln w="5773">
            <a:solidFill>
              <a:srgbClr val="DDD9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1E1E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67837" y="6559261"/>
            <a:ext cx="7719814" cy="53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Strategic &amp; Tax Planning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567837" y="7156377"/>
            <a:ext cx="7719814" cy="397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Year-round, proactive strategy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13" y="6172488"/>
            <a:ext cx="7867685" cy="1729744"/>
          </a:xfrm>
          <a:prstGeom prst="roundRect">
            <a:avLst>
              <a:gd name="adj" fmla="val 7709"/>
            </a:avLst>
          </a:prstGeom>
          <a:solidFill>
            <a:srgbClr val="FFFFFF"/>
          </a:solidFill>
          <a:ln w="5773">
            <a:solidFill>
              <a:srgbClr val="DDD9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1E1E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02150" y="6559261"/>
            <a:ext cx="7719814" cy="53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Business Optimization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702150" y="7156377"/>
            <a:ext cx="7719814" cy="397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Process improvement &amp; exit readiness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9471692"/>
            <a:ext cx="381000" cy="19230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57314" y="9420278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443432" y="9390783"/>
            <a:ext cx="777767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07 / 10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34441"/>
            <a:ext cx="8298160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C6620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TECH-FORWARD APPROACH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3787721"/>
            <a:ext cx="7770095" cy="163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150" b="1" spc="-184" kern="0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Modern tools, real-time decisions.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143000" y="5723839"/>
            <a:ext cx="5785183" cy="1366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connect your systems, accounting, and dashboards so decisions run on live data — not month-old spreadsheets.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601127" y="4522571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6" name="Text 4"/>
          <p:cNvSpPr/>
          <p:nvPr/>
        </p:nvSpPr>
        <p:spPr>
          <a:xfrm>
            <a:off x="10039223" y="4294007"/>
            <a:ext cx="6086376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Automated reporting and KPI dashboards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01127" y="5158743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8" name="Text 6"/>
          <p:cNvSpPr/>
          <p:nvPr/>
        </p:nvSpPr>
        <p:spPr>
          <a:xfrm>
            <a:off x="10039223" y="4930179"/>
            <a:ext cx="4582318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Systems that talk to each other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127" y="5794916"/>
            <a:ext cx="209532" cy="38064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10" name="Text 8"/>
          <p:cNvSpPr/>
          <p:nvPr/>
        </p:nvSpPr>
        <p:spPr>
          <a:xfrm>
            <a:off x="10039223" y="5566352"/>
            <a:ext cx="4931866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E1E1E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Data-driven decisions, made bold</a:t>
            </a:r>
            <a:endParaRPr lang="en-US" sz="2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9357410"/>
            <a:ext cx="381000" cy="192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57314" y="9305997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24580" y="9276501"/>
            <a:ext cx="796618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08 / 10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265525"/>
            <a:ext cx="17602199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C6620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TO ENGAGE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780740"/>
            <a:ext cx="16482059" cy="1524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175" kern="0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Three simple ways to start your climb to value.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1143000" y="4876240"/>
            <a:ext cx="5130782" cy="3145234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7150" dir="5400000">
              <a:srgbClr val="1E1E1E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8015702"/>
            <a:ext cx="5130782" cy="9525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76240"/>
            <a:ext cx="5130782" cy="46182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876240"/>
            <a:ext cx="9525" cy="3145234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8" name="Shape 6"/>
          <p:cNvSpPr/>
          <p:nvPr/>
        </p:nvSpPr>
        <p:spPr>
          <a:xfrm>
            <a:off x="6268009" y="4876240"/>
            <a:ext cx="9525" cy="3145234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9" name="Text 7"/>
          <p:cNvSpPr/>
          <p:nvPr/>
        </p:nvSpPr>
        <p:spPr>
          <a:xfrm>
            <a:off x="1529773" y="5379550"/>
            <a:ext cx="4792960" cy="6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315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29773" y="6170955"/>
            <a:ext cx="4792960" cy="53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Strategic Assessment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529773" y="6844199"/>
            <a:ext cx="448795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clear read on your numbers and where value is hiding.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578564" y="4876240"/>
            <a:ext cx="5130782" cy="3145234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7150" dir="5400000">
              <a:srgbClr val="1E1E1E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78564" y="8015702"/>
            <a:ext cx="5130782" cy="9525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8564" y="4876240"/>
            <a:ext cx="5130782" cy="46182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8564" y="4876240"/>
            <a:ext cx="9525" cy="3145234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3572" y="4876240"/>
            <a:ext cx="9525" cy="3145234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6965336" y="5379550"/>
            <a:ext cx="4792960" cy="6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315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965336" y="6170955"/>
            <a:ext cx="4792960" cy="53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Ongoing Fractional CFO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965336" y="6844199"/>
            <a:ext cx="448795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Steady leadership on a reliable monthly cadence.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2014127" y="4876240"/>
            <a:ext cx="5130782" cy="3145234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7150" dir="5400000">
              <a:srgbClr val="1E1E1E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014127" y="8015702"/>
            <a:ext cx="5130782" cy="9525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14127" y="4876240"/>
            <a:ext cx="5130782" cy="46182"/>
          </a:xfrm>
          <a:prstGeom prst="rect">
            <a:avLst/>
          </a:prstGeom>
          <a:solidFill>
            <a:srgbClr val="982407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14127" y="4876240"/>
            <a:ext cx="9525" cy="3145234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24" name="Shape 22"/>
          <p:cNvSpPr/>
          <p:nvPr/>
        </p:nvSpPr>
        <p:spPr>
          <a:xfrm>
            <a:off x="17139136" y="4876240"/>
            <a:ext cx="9525" cy="3145234"/>
          </a:xfrm>
          <a:prstGeom prst="rect">
            <a:avLst/>
          </a:prstGeom>
          <a:solidFill>
            <a:srgbClr val="DDD9D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00900" y="5379550"/>
            <a:ext cx="4792960" cy="65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315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2400900" y="6170955"/>
            <a:ext cx="4792960" cy="53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Project Engagement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2400900" y="6844199"/>
            <a:ext cx="448795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56544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Exit prep, audit, or turnaround — a defined scope.</a:t>
            </a:r>
            <a:endParaRPr lang="en-US" sz="1875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9471692"/>
            <a:ext cx="381000" cy="19230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57314" y="9420278"/>
            <a:ext cx="1046198" cy="33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Make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98240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424671" y="9390783"/>
            <a:ext cx="796528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9B988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09 / 10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9624" y="1238250"/>
            <a:ext cx="1428750" cy="721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8780" y="2850554"/>
            <a:ext cx="4210347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b="1" spc="330" kern="0" dirty="0">
                <a:solidFill>
                  <a:srgbClr val="E88F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MAKE BOLD SOLUTIONS, LLC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4471444" y="3441898"/>
            <a:ext cx="9345111" cy="2019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0" b="1" spc="-273" kern="0" dirty="0">
                <a:solidFill>
                  <a:srgbClr val="F8F6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Bold decisions. Rooted in strategy.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3880569" y="5765872"/>
            <a:ext cx="10526859" cy="952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C2BFB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Let's bridge your operations and your financial results. The first step is a conversation — no obligation, no pressure.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107670" y="7175409"/>
            <a:ext cx="4072569" cy="832445"/>
          </a:xfrm>
          <a:prstGeom prst="roundRect">
            <a:avLst>
              <a:gd name="adj" fmla="val 9154"/>
            </a:avLst>
          </a:prstGeom>
          <a:solidFill>
            <a:srgbClr val="982407"/>
          </a:solidFill>
          <a:ln/>
          <a:effectLst>
            <a:outerShdw sx="100000" sy="100000" kx="0" ky="0" algn="bl" rotWithShape="0" blurRad="228600" dist="76200" dir="5400000">
              <a:srgbClr val="982407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65682" y="7384959"/>
            <a:ext cx="3356546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F8F6F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Start your climb to value →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6433655" y="9276501"/>
            <a:ext cx="749444" cy="362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b="1" spc="99" kern="0" dirty="0">
                <a:solidFill>
                  <a:srgbClr val="76736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 / 10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2026-06-29T03:47:21Z</dcterms:created>
  <dcterms:modified xsi:type="dcterms:W3CDTF">2026-06-29T03:47:21Z</dcterms:modified>
</cp:coreProperties>
</file>